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B1330"/>
                </a:solidFill>
                <a:latin typeface="Cambria"/>
              </a:defRPr>
            </a:pPr>
            <a:r>
              <a:rPr lang="en-US" sz="1300" b="0" i="0" u="none" strike="noStrike">
                <a:solidFill>
                  <a:srgbClr val="3B1330"/>
                </a:solidFill>
                <a:latin typeface="Cambria"/>
              </a:rPr>
              <a:t>Top 10 Users by Engagement Rate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 rate / post</c:v>
                </c:pt>
              </c:strCache>
            </c:strRef>
          </c:tx>
          <c:spPr>
            <a:solidFill>
              <a:srgbClr val="C1358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A1626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Meggie_Doyle</c:v>
                </c:pt>
                <c:pt idx="1">
                  <c:v>Jaylan.Lakin</c:v>
                </c:pt>
                <c:pt idx="2">
                  <c:v>Granville_Kutch</c:v>
                </c:pt>
                <c:pt idx="3">
                  <c:v>Kenneth64</c:v>
                </c:pt>
                <c:pt idx="4">
                  <c:v>Damon35</c:v>
                </c:pt>
                <c:pt idx="5">
                  <c:v>Karley_Bosco</c:v>
                </c:pt>
                <c:pt idx="6">
                  <c:v>Odessa2</c:v>
                </c:pt>
                <c:pt idx="7">
                  <c:v>Jayson65</c:v>
                </c:pt>
                <c:pt idx="8">
                  <c:v>Kelsi26</c:v>
                </c:pt>
                <c:pt idx="9">
                  <c:v>Erick5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75</c:v>
                </c:pt>
                <c:pt idx="1">
                  <c:v>73</c:v>
                </c:pt>
                <c:pt idx="2">
                  <c:v>71</c:v>
                </c:pt>
                <c:pt idx="3">
                  <c:v>70</c:v>
                </c:pt>
                <c:pt idx="4">
                  <c:v>68</c:v>
                </c:pt>
                <c:pt idx="5">
                  <c:v>68</c:v>
                </c:pt>
                <c:pt idx="6">
                  <c:v>67</c:v>
                </c:pt>
                <c:pt idx="7">
                  <c:v>66</c:v>
                </c:pt>
                <c:pt idx="8">
                  <c:v>66</c:v>
                </c:pt>
                <c:pt idx="9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56-41C5-BF62-67ECE3EC15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A162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"/>
          <c:min val="0"/>
        </c:scaling>
        <c:delete val="0"/>
        <c:axPos val="b"/>
        <c:majorGridlines>
          <c:spPr>
            <a:ln w="9525" cap="flat">
              <a:solidFill>
                <a:srgbClr val="EADC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66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B1330"/>
                </a:solidFill>
                <a:latin typeface="Cambria"/>
              </a:defRPr>
            </a:pPr>
            <a:r>
              <a:rPr lang="en-US" sz="1300" b="0" i="0" u="none" strike="noStrike">
                <a:solidFill>
                  <a:srgbClr val="3B1330"/>
                </a:solidFill>
                <a:latin typeface="Cambria"/>
              </a:rPr>
              <a:t>Top 10 Engaged Users — May 2025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engagement (May 2025)</c:v>
                </c:pt>
              </c:strCache>
            </c:strRef>
          </c:tx>
          <c:spPr>
            <a:solidFill>
              <a:srgbClr val="F7773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A1626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Eveline95</c:v>
                </c:pt>
                <c:pt idx="1">
                  <c:v>Cesar93</c:v>
                </c:pt>
                <c:pt idx="2">
                  <c:v>Clint27</c:v>
                </c:pt>
                <c:pt idx="3">
                  <c:v>Delfina_VonRueden68</c:v>
                </c:pt>
                <c:pt idx="4">
                  <c:v>Aurelie71</c:v>
                </c:pt>
                <c:pt idx="5">
                  <c:v>Jaime53</c:v>
                </c:pt>
                <c:pt idx="6">
                  <c:v>Donald.Fritsch</c:v>
                </c:pt>
                <c:pt idx="7">
                  <c:v>Janet.Armstrong</c:v>
                </c:pt>
                <c:pt idx="8">
                  <c:v>Alexandro35</c:v>
                </c:pt>
                <c:pt idx="9">
                  <c:v>Zack_Kemmer93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405</c:v>
                </c:pt>
                <c:pt idx="1">
                  <c:v>385</c:v>
                </c:pt>
                <c:pt idx="2">
                  <c:v>375</c:v>
                </c:pt>
                <c:pt idx="3">
                  <c:v>347</c:v>
                </c:pt>
                <c:pt idx="4">
                  <c:v>318</c:v>
                </c:pt>
                <c:pt idx="5">
                  <c:v>302</c:v>
                </c:pt>
                <c:pt idx="6">
                  <c:v>247</c:v>
                </c:pt>
                <c:pt idx="7">
                  <c:v>222</c:v>
                </c:pt>
                <c:pt idx="8">
                  <c:v>220</c:v>
                </c:pt>
                <c:pt idx="9">
                  <c:v>219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FA-47A2-9A68-F4C91D77E5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A162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0"/>
          <c:min val="0"/>
        </c:scaling>
        <c:delete val="0"/>
        <c:axPos val="b"/>
        <c:majorGridlines>
          <c:spPr>
            <a:ln w="9525" cap="flat">
              <a:solidFill>
                <a:srgbClr val="EADC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66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B1330"/>
                </a:solidFill>
                <a:latin typeface="Cambria"/>
              </a:defRPr>
            </a:pPr>
            <a:r>
              <a:rPr lang="en-US" sz="1300" b="0" i="0" u="none" strike="noStrike">
                <a:solidFill>
                  <a:srgbClr val="3B1330"/>
                </a:solidFill>
                <a:latin typeface="Cambria"/>
              </a:rPr>
              <a:t>Top 5 Hashtags by Avg. Engagement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engagement / post</c:v>
                </c:pt>
              </c:strCache>
            </c:strRef>
          </c:tx>
          <c:spPr>
            <a:solidFill>
              <a:srgbClr val="C1358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A1626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#delicious</c:v>
                </c:pt>
                <c:pt idx="1">
                  <c:v>#beauty</c:v>
                </c:pt>
                <c:pt idx="2">
                  <c:v>#foodie</c:v>
                </c:pt>
                <c:pt idx="3">
                  <c:v>#sunset</c:v>
                </c:pt>
                <c:pt idx="4">
                  <c:v>#stunning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65.27</c:v>
                </c:pt>
                <c:pt idx="1">
                  <c:v>65.150000000000006</c:v>
                </c:pt>
                <c:pt idx="2">
                  <c:v>64.64</c:v>
                </c:pt>
                <c:pt idx="3">
                  <c:v>64.42</c:v>
                </c:pt>
                <c:pt idx="4">
                  <c:v>64.25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69-452E-8B14-5468C023C8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162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6"/>
          <c:min val="63"/>
        </c:scaling>
        <c:delete val="0"/>
        <c:axPos val="l"/>
        <c:majorGridlines>
          <c:spPr>
            <a:ln w="9525" cap="flat">
              <a:solidFill>
                <a:srgbClr val="EADC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66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3B1330"/>
                </a:solidFill>
                <a:latin typeface="Cambria"/>
              </a:defRPr>
            </a:pPr>
            <a:r>
              <a:rPr lang="en-US" sz="1150" b="0" i="0" u="none" strike="noStrike">
                <a:solidFill>
                  <a:srgbClr val="3B1330"/>
                </a:solidFill>
                <a:latin typeface="Cambria"/>
              </a:rPr>
              <a:t>Influencer Shortlist — Engagement Rate per Post (77 followers each)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 rate / post</c:v>
                </c:pt>
              </c:strCache>
            </c:strRef>
          </c:tx>
          <c:spPr>
            <a:solidFill>
              <a:srgbClr val="FCAF4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A1626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Donald.Fritsch</c:v>
                </c:pt>
                <c:pt idx="1">
                  <c:v>Aurelie71</c:v>
                </c:pt>
                <c:pt idx="2">
                  <c:v>Cesar93</c:v>
                </c:pt>
                <c:pt idx="3">
                  <c:v>Florence99</c:v>
                </c:pt>
                <c:pt idx="4">
                  <c:v>Jaime53</c:v>
                </c:pt>
                <c:pt idx="5">
                  <c:v>Eveline95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65.33</c:v>
                </c:pt>
                <c:pt idx="1">
                  <c:v>65.25</c:v>
                </c:pt>
                <c:pt idx="2">
                  <c:v>64.599999999999994</c:v>
                </c:pt>
                <c:pt idx="3">
                  <c:v>64</c:v>
                </c:pt>
                <c:pt idx="4">
                  <c:v>62.5</c:v>
                </c:pt>
                <c:pt idx="5">
                  <c:v>62.42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8E-43DC-9E7E-FDBD86B641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A162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8"/>
          <c:min val="60"/>
        </c:scaling>
        <c:delete val="0"/>
        <c:axPos val="b"/>
        <c:majorGridlines>
          <c:spPr>
            <a:ln w="9525" cap="flat">
              <a:solidFill>
                <a:srgbClr val="EADC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66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B1330"/>
                </a:solidFill>
                <a:latin typeface="Cambria"/>
              </a:defRPr>
            </a:pPr>
            <a:r>
              <a:rPr lang="en-US" sz="1300" b="0" i="0" u="none" strike="noStrike">
                <a:solidFill>
                  <a:srgbClr val="3B1330"/>
                </a:solidFill>
                <a:latin typeface="Cambria"/>
              </a:rPr>
              <a:t>User Base by Activity Tier (directional)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13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52E-48E4-9D2D-CA644DF3337E}"/>
              </c:ext>
            </c:extLst>
          </c:dPt>
          <c:dPt>
            <c:idx val="1"/>
            <c:bubble3D val="0"/>
            <c:spPr>
              <a:solidFill>
                <a:srgbClr val="C135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52E-48E4-9D2D-CA644DF3337E}"/>
              </c:ext>
            </c:extLst>
          </c:dPt>
          <c:dPt>
            <c:idx val="2"/>
            <c:bubble3D val="0"/>
            <c:spPr>
              <a:solidFill>
                <a:srgbClr val="F7773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52E-48E4-9D2D-CA644DF3337E}"/>
              </c:ext>
            </c:extLst>
          </c:dPt>
          <c:dPt>
            <c:idx val="3"/>
            <c:bubble3D val="0"/>
            <c:spPr>
              <a:solidFill>
                <a:srgbClr val="D8C3C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52E-48E4-9D2D-CA644DF3337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52E-48E4-9D2D-CA644DF3337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52E-48E4-9D2D-CA644DF3337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52E-48E4-9D2D-CA644DF3337E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52E-48E4-9D2D-CA644DF3337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Highly Active</c:v>
                </c:pt>
                <c:pt idx="1">
                  <c:v>Moderately Active</c:v>
                </c:pt>
                <c:pt idx="2">
                  <c:v>Low Activity</c:v>
                </c:pt>
                <c:pt idx="3">
                  <c:v>Inactive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28</c:v>
                </c:pt>
                <c:pt idx="2">
                  <c:v>32</c:v>
                </c:pt>
                <c:pt idx="3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52E-48E4-9D2D-CA644DF333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A162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6380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4572000" cy="4572000"/>
          </a:xfrm>
          <a:prstGeom prst="ellipse">
            <a:avLst/>
          </a:prstGeom>
          <a:solidFill>
            <a:srgbClr val="C13584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389120"/>
            <a:ext cx="3291840" cy="3291840"/>
          </a:xfrm>
          <a:prstGeom prst="ellipse">
            <a:avLst/>
          </a:prstGeom>
          <a:solidFill>
            <a:srgbClr val="F77737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937760"/>
            <a:ext cx="3108960" cy="3108960"/>
          </a:xfrm>
          <a:prstGeom prst="ellipse">
            <a:avLst/>
          </a:prstGeom>
          <a:solidFill>
            <a:srgbClr val="FCAF45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CA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ANALYTICS 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Growth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7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Engagement, Retention &amp; Influencer Strategy for Instagram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3977640"/>
            <a:ext cx="2011680" cy="0"/>
          </a:xfrm>
          <a:prstGeom prst="line">
            <a:avLst/>
          </a:prstGeom>
          <a:noFill/>
          <a:ln w="31750">
            <a:solidFill>
              <a:srgbClr val="F777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Meta Marketing Team  |  SQL-Driven User Behavior Analysis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3B133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CA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today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-1188720" y="5120640"/>
            <a:ext cx="3291840" cy="3291840"/>
          </a:xfrm>
          <a:prstGeom prst="ellipse">
            <a:avLst/>
          </a:prstGeom>
          <a:solidFill>
            <a:srgbClr val="C13584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26280" y="731520"/>
            <a:ext cx="566928" cy="566928"/>
          </a:xfrm>
          <a:prstGeom prst="ellipse">
            <a:avLst/>
          </a:prstGeom>
          <a:solidFill>
            <a:srgbClr val="3B1330"/>
          </a:solidFill>
          <a:ln/>
        </p:spPr>
      </p:sp>
      <p:sp>
        <p:nvSpPr>
          <p:cNvPr id="7" name="Text 5"/>
          <p:cNvSpPr/>
          <p:nvPr/>
        </p:nvSpPr>
        <p:spPr>
          <a:xfrm>
            <a:off x="4526280" y="731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CA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0" y="6858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303520" y="1033272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Meta's marketing team needs this analysis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6280" y="1783080"/>
            <a:ext cx="566928" cy="566928"/>
          </a:xfrm>
          <a:prstGeom prst="ellipse">
            <a:avLst/>
          </a:prstGeom>
          <a:solidFill>
            <a:srgbClr val="3B1330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783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CA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0" y="17373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Overview &amp; Schema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303520" y="2084832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seven tables behind Instagram's user activity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26280" y="2834640"/>
            <a:ext cx="566928" cy="566928"/>
          </a:xfrm>
          <a:prstGeom prst="ellipse">
            <a:avLst/>
          </a:prstGeom>
          <a:solidFill>
            <a:srgbClr val="3B1330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2834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CA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03520" y="27889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&amp; Visualizations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303520" y="3136392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data stories from the SQL queries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26280" y="3886200"/>
            <a:ext cx="566928" cy="566928"/>
          </a:xfrm>
          <a:prstGeom prst="ellipse">
            <a:avLst/>
          </a:prstGeom>
          <a:solidFill>
            <a:srgbClr val="3B1330"/>
          </a:solidFill>
          <a:ln/>
        </p:spPr>
      </p:sp>
      <p:sp>
        <p:nvSpPr>
          <p:cNvPr id="19" name="Text 17"/>
          <p:cNvSpPr/>
          <p:nvPr/>
        </p:nvSpPr>
        <p:spPr>
          <a:xfrm>
            <a:off x="4526280" y="3886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CA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03520" y="38404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303520" y="4187952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are really telling us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26280" y="4937760"/>
            <a:ext cx="566928" cy="566928"/>
          </a:xfrm>
          <a:prstGeom prst="ellipse">
            <a:avLst/>
          </a:prstGeom>
          <a:solidFill>
            <a:srgbClr val="3B1330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4937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CA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03520" y="48920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303520" y="5239512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insight into a marketing action plan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Engagement Analysis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1358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marketing team that needs to know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focus its energy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data analyst partnering with Meta's Marketing team, the brief is to mine Instagram's user activity data and turn it into concrete strategies that grow engagement, improve retention, and support acquisition — backed by SQL evidence rather than guesswork.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ADCE6"/>
            </a:solidFill>
            <a:prstDash val="solid"/>
          </a:ln>
          <a:effectLst>
            <a:outerShdw blurRad="76200" dist="25400" dir="5400000" algn="bl" rotWithShape="0">
              <a:srgbClr val="3B133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35204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C1358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users, posts and hashtags actually drive likes and comments — and why?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324612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ADCE6"/>
            </a:solidFill>
            <a:prstDash val="solid"/>
          </a:ln>
          <a:effectLst>
            <a:outerShdw blurRad="76200" dist="25400" dir="5400000" algn="bl" rotWithShape="0">
              <a:srgbClr val="3B133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35204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7773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457200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fading into inactivity, and what would bring them back?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324612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ADCE6"/>
            </a:solidFill>
            <a:prstDash val="solid"/>
          </a:ln>
          <a:effectLst>
            <a:outerShdw blurRad="76200" dist="25400" dir="5400000" algn="bl" rotWithShape="0">
              <a:srgbClr val="3B133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35204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B1330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Acquisition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21040" y="457200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power users and influencers can extend Instagram's reach the furthest?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Engagement Analysis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7773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relational snapshot of Instagram activity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mirrors Instagram's core product surface: who people are, what they post, and how the community reacts to and organizes that content. Seven linked tables capture identity, content, the social graph and engagement.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3B133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9572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CA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Tables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23317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3B1330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239572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CA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37560" y="30175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Found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3317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3B1330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239572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CA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26480" y="30175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/ Null Values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15400" y="23317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3B1330"/>
          </a:solidFill>
          <a:ln/>
        </p:spPr>
      </p:sp>
      <p:sp>
        <p:nvSpPr>
          <p:cNvPr id="16" name="Text 14"/>
          <p:cNvSpPr/>
          <p:nvPr/>
        </p:nvSpPr>
        <p:spPr>
          <a:xfrm>
            <a:off x="8915400" y="239572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CA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915400" y="30175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Tags per Post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657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data domains the analysis draws on: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86784"/>
            <a:ext cx="128016" cy="128016"/>
          </a:xfrm>
          <a:prstGeom prst="ellipse">
            <a:avLst/>
          </a:prstGeom>
          <a:solidFill>
            <a:srgbClr val="C13584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9319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 </a:t>
            </a:r>
            <a:r>
              <a:rPr lang="en-US" sz="13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— who's on the platform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425696"/>
            <a:ext cx="128016" cy="128016"/>
          </a:xfrm>
          <a:prstGeom prst="ellipse">
            <a:avLst/>
          </a:prstGeom>
          <a:solidFill>
            <a:srgbClr val="C13584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37083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 </a:t>
            </a:r>
            <a:r>
              <a:rPr lang="en-US" sz="13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— what's been posted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864608"/>
            <a:ext cx="128016" cy="128016"/>
          </a:xfrm>
          <a:prstGeom prst="ellipse">
            <a:avLst/>
          </a:prstGeom>
          <a:solidFill>
            <a:srgbClr val="C13584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809744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Graph  </a:t>
            </a:r>
            <a:r>
              <a:rPr lang="en-US" sz="13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— who connects to whom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303520"/>
            <a:ext cx="128016" cy="128016"/>
          </a:xfrm>
          <a:prstGeom prst="ellipse">
            <a:avLst/>
          </a:prstGeom>
          <a:solidFill>
            <a:srgbClr val="C13584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248656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  </a:t>
            </a:r>
            <a:r>
              <a:rPr lang="en-US" sz="13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 &amp; comments — how people respond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742432"/>
            <a:ext cx="128016" cy="128016"/>
          </a:xfrm>
          <a:prstGeom prst="ellipse">
            <a:avLst/>
          </a:prstGeom>
          <a:solidFill>
            <a:srgbClr val="C13584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68756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 </a:t>
            </a:r>
            <a:r>
              <a:rPr lang="en-US" sz="13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&amp; photo_tags — how content is organized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2636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check: GROUP BY / HAVING COUNT(*) &gt; 1 duplicate scans and NULL scans across all seven tables returned a clean result.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Engagement Analysis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3B13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tables connected through users, photos and tags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10312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D3DD"/>
            </a:solidFill>
            <a:prstDash val="solid"/>
          </a:ln>
          <a:effectLst>
            <a:outerShdw blurRad="63500" dist="25400" dir="5400000" algn="bl" rotWithShape="0">
              <a:srgbClr val="3B133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3B133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020824"/>
            <a:ext cx="2103120" cy="192024"/>
          </a:xfrm>
          <a:prstGeom prst="rect">
            <a:avLst/>
          </a:prstGeom>
          <a:solidFill>
            <a:srgbClr val="3B133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8288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76656" y="2267712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6656" y="2505456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6656" y="2743200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63240" y="1554480"/>
            <a:ext cx="228600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E3D3DD"/>
            </a:solidFill>
            <a:prstDash val="solid"/>
          </a:ln>
          <a:effectLst>
            <a:outerShdw blurRad="63500" dist="25400" dir="5400000" algn="bl" rotWithShape="0">
              <a:srgbClr val="3B133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063240" y="1554480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C13584"/>
          </a:solidFill>
          <a:ln/>
        </p:spPr>
      </p:sp>
      <p:sp>
        <p:nvSpPr>
          <p:cNvPr id="15" name="Shape 13"/>
          <p:cNvSpPr/>
          <p:nvPr/>
        </p:nvSpPr>
        <p:spPr>
          <a:xfrm>
            <a:off x="3063240" y="1746504"/>
            <a:ext cx="2286000" cy="192024"/>
          </a:xfrm>
          <a:prstGeom prst="rect">
            <a:avLst/>
          </a:prstGeom>
          <a:solidFill>
            <a:srgbClr val="C13584"/>
          </a:solidFill>
          <a:ln/>
        </p:spPr>
      </p:sp>
      <p:sp>
        <p:nvSpPr>
          <p:cNvPr id="16" name="Text 14"/>
          <p:cNvSpPr/>
          <p:nvPr/>
        </p:nvSpPr>
        <p:spPr>
          <a:xfrm>
            <a:off x="3172968" y="15544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191256" y="1993392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91256" y="2231136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image_url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91256" y="2468880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91256" y="2706624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210312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D3DD"/>
            </a:solidFill>
            <a:prstDash val="solid"/>
          </a:ln>
          <a:effectLst>
            <a:outerShdw blurRad="63500" dist="25400" dir="5400000" algn="bl" rotWithShape="0">
              <a:srgbClr val="3B133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74904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77737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941064"/>
            <a:ext cx="2103120" cy="192024"/>
          </a:xfrm>
          <a:prstGeom prst="rect">
            <a:avLst/>
          </a:prstGeom>
          <a:solidFill>
            <a:srgbClr val="F77737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7490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76656" y="4187952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follower_id (FK)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6656" y="4425696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followee_id (FK)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6656" y="4663440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63240" y="3977640"/>
            <a:ext cx="22860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D3DD"/>
            </a:solidFill>
            <a:prstDash val="solid"/>
          </a:ln>
          <a:effectLst>
            <a:outerShdw blurRad="63500" dist="25400" dir="5400000" algn="bl" rotWithShape="0">
              <a:srgbClr val="3B133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063240" y="3977640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FCAF45"/>
          </a:solidFill>
          <a:ln/>
        </p:spPr>
      </p:sp>
      <p:sp>
        <p:nvSpPr>
          <p:cNvPr id="30" name="Shape 28"/>
          <p:cNvSpPr/>
          <p:nvPr/>
        </p:nvSpPr>
        <p:spPr>
          <a:xfrm>
            <a:off x="3063240" y="4169664"/>
            <a:ext cx="2286000" cy="192024"/>
          </a:xfrm>
          <a:prstGeom prst="rect">
            <a:avLst/>
          </a:prstGeom>
          <a:solidFill>
            <a:srgbClr val="FCAF45"/>
          </a:solidFill>
          <a:ln/>
        </p:spPr>
      </p:sp>
      <p:sp>
        <p:nvSpPr>
          <p:cNvPr id="31" name="Text 29"/>
          <p:cNvSpPr/>
          <p:nvPr/>
        </p:nvSpPr>
        <p:spPr>
          <a:xfrm>
            <a:off x="3172968" y="39776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191256" y="4416552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191256" y="4654296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photo_id (FK)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191256" y="4892040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806440" y="1554480"/>
            <a:ext cx="2331720" cy="1682496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E3D3DD"/>
            </a:solidFill>
            <a:prstDash val="solid"/>
          </a:ln>
          <a:effectLst>
            <a:outerShdw blurRad="63500" dist="25400" dir="5400000" algn="bl" rotWithShape="0">
              <a:srgbClr val="3B133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806440" y="155448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C13584"/>
          </a:solidFill>
          <a:ln/>
        </p:spPr>
      </p:sp>
      <p:sp>
        <p:nvSpPr>
          <p:cNvPr id="37" name="Shape 35"/>
          <p:cNvSpPr/>
          <p:nvPr/>
        </p:nvSpPr>
        <p:spPr>
          <a:xfrm>
            <a:off x="5806440" y="1746504"/>
            <a:ext cx="2331720" cy="192024"/>
          </a:xfrm>
          <a:prstGeom prst="rect">
            <a:avLst/>
          </a:prstGeom>
          <a:solidFill>
            <a:srgbClr val="C13584"/>
          </a:solidFill>
          <a:ln/>
        </p:spPr>
      </p:sp>
      <p:sp>
        <p:nvSpPr>
          <p:cNvPr id="38" name="Text 36"/>
          <p:cNvSpPr/>
          <p:nvPr/>
        </p:nvSpPr>
        <p:spPr>
          <a:xfrm>
            <a:off x="5916168" y="1554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934456" y="1993392"/>
            <a:ext cx="2075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34456" y="2231136"/>
            <a:ext cx="2075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comment_text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34456" y="2468880"/>
            <a:ext cx="2075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934456" y="2706624"/>
            <a:ext cx="2075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photo_id (FK)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34456" y="2944368"/>
            <a:ext cx="2075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806440" y="3977640"/>
            <a:ext cx="233172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3D3DD"/>
            </a:solidFill>
            <a:prstDash val="solid"/>
          </a:ln>
          <a:effectLst>
            <a:outerShdw blurRad="63500" dist="25400" dir="5400000" algn="bl" rotWithShape="0">
              <a:srgbClr val="3B133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806440" y="397764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FCAF45"/>
          </a:solidFill>
          <a:ln/>
        </p:spPr>
      </p:sp>
      <p:sp>
        <p:nvSpPr>
          <p:cNvPr id="46" name="Shape 44"/>
          <p:cNvSpPr/>
          <p:nvPr/>
        </p:nvSpPr>
        <p:spPr>
          <a:xfrm>
            <a:off x="5806440" y="4169664"/>
            <a:ext cx="2331720" cy="192024"/>
          </a:xfrm>
          <a:prstGeom prst="rect">
            <a:avLst/>
          </a:prstGeom>
          <a:solidFill>
            <a:srgbClr val="FCAF45"/>
          </a:solidFill>
          <a:ln/>
        </p:spPr>
      </p:sp>
      <p:sp>
        <p:nvSpPr>
          <p:cNvPr id="47" name="Text 45"/>
          <p:cNvSpPr/>
          <p:nvPr/>
        </p:nvSpPr>
        <p:spPr>
          <a:xfrm>
            <a:off x="5916168" y="397764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photo_tags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5934456" y="4416552"/>
            <a:ext cx="2075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photo_id (FK)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934456" y="4654296"/>
            <a:ext cx="2075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tag_id (FK)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595360" y="2743200"/>
            <a:ext cx="210312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D3DD"/>
            </a:solidFill>
            <a:prstDash val="solid"/>
          </a:ln>
          <a:effectLst>
            <a:outerShdw blurRad="63500" dist="25400" dir="5400000" algn="bl" rotWithShape="0">
              <a:srgbClr val="3B133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595360" y="274320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3B1330"/>
          </a:solidFill>
          <a:ln/>
        </p:spPr>
      </p:sp>
      <p:sp>
        <p:nvSpPr>
          <p:cNvPr id="52" name="Shape 50"/>
          <p:cNvSpPr/>
          <p:nvPr/>
        </p:nvSpPr>
        <p:spPr>
          <a:xfrm>
            <a:off x="8595360" y="2935224"/>
            <a:ext cx="2103120" cy="192024"/>
          </a:xfrm>
          <a:prstGeom prst="rect">
            <a:avLst/>
          </a:prstGeom>
          <a:solidFill>
            <a:srgbClr val="3B1330"/>
          </a:solidFill>
          <a:ln/>
        </p:spPr>
      </p:sp>
      <p:sp>
        <p:nvSpPr>
          <p:cNvPr id="53" name="Text 51"/>
          <p:cNvSpPr/>
          <p:nvPr/>
        </p:nvSpPr>
        <p:spPr>
          <a:xfrm>
            <a:off x="8705088" y="27432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8723376" y="3182112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723376" y="3419856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tag_name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723376" y="3657600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 flipV="1">
            <a:off x="2651760" y="1746504"/>
            <a:ext cx="411480" cy="274320"/>
          </a:xfrm>
          <a:prstGeom prst="line">
            <a:avLst/>
          </a:prstGeom>
          <a:noFill/>
          <a:ln w="19050">
            <a:solidFill>
              <a:srgbClr val="C9AEC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600200" y="3035808"/>
            <a:ext cx="9144" cy="713232"/>
          </a:xfrm>
          <a:prstGeom prst="line">
            <a:avLst/>
          </a:prstGeom>
          <a:noFill/>
          <a:ln w="19050">
            <a:solidFill>
              <a:srgbClr val="C9AEC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651760" y="2898648"/>
            <a:ext cx="411480" cy="1261872"/>
          </a:xfrm>
          <a:prstGeom prst="line">
            <a:avLst/>
          </a:prstGeom>
          <a:noFill/>
          <a:ln w="19050">
            <a:solidFill>
              <a:srgbClr val="C9AEC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349240" y="1746504"/>
            <a:ext cx="457200" cy="9144"/>
          </a:xfrm>
          <a:prstGeom prst="line">
            <a:avLst/>
          </a:prstGeom>
          <a:noFill/>
          <a:ln w="19050">
            <a:solidFill>
              <a:srgbClr val="C9AEC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434840" y="2999232"/>
            <a:ext cx="9144" cy="978408"/>
          </a:xfrm>
          <a:prstGeom prst="line">
            <a:avLst/>
          </a:prstGeom>
          <a:noFill/>
          <a:ln w="19050">
            <a:solidFill>
              <a:srgbClr val="C9AEC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349240" y="2862072"/>
            <a:ext cx="457200" cy="1298448"/>
          </a:xfrm>
          <a:prstGeom prst="line">
            <a:avLst/>
          </a:prstGeom>
          <a:noFill/>
          <a:ln w="19050">
            <a:solidFill>
              <a:srgbClr val="C9AEC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8138160" y="3346704"/>
            <a:ext cx="457200" cy="822960"/>
          </a:xfrm>
          <a:prstGeom prst="line">
            <a:avLst/>
          </a:prstGeom>
          <a:noFill/>
          <a:ln w="19050">
            <a:solidFill>
              <a:srgbClr val="C9AEC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" y="63093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= Primary Key   ·   FK = Foreign Key   ·   lines indicate join relationships used across the SQL queries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Engagement Analysis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1358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·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core of power users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drives most engagement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 is computed as (likes + comments) ÷ posts, ranked with DENSE_RANK() so ties share a place.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82296" cy="82296"/>
          </a:xfrm>
          <a:prstGeom prst="roundRect">
            <a:avLst>
              <a:gd name="adj" fmla="val 22222"/>
            </a:avLst>
          </a:prstGeom>
          <a:solidFill>
            <a:srgbClr val="F7773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13432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Meggie_Doyle tops the leaderboard at 75 engagements per post — the single highest rate in the dataset.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19272"/>
            <a:ext cx="82296" cy="82296"/>
          </a:xfrm>
          <a:prstGeom prst="roundRect">
            <a:avLst>
              <a:gd name="adj" fmla="val 22222"/>
            </a:avLst>
          </a:prstGeom>
          <a:solidFill>
            <a:srgbClr val="F7773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209544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10 cluster tightly between 65–75, pointing to a broad power-user tier rather than one outlier.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215384"/>
            <a:ext cx="82296" cy="82296"/>
          </a:xfrm>
          <a:prstGeom prst="roundRect">
            <a:avLst>
              <a:gd name="adj" fmla="val 22222"/>
            </a:avLst>
          </a:prstGeom>
          <a:solidFill>
            <a:srgbClr val="F7773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05656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is the natural shortlist for loyalty rewards and “Top Creator” recognition programs.</a:t>
            </a:r>
            <a:endParaRPr lang="en-US" sz="12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126480" y="1600200"/>
          <a:ext cx="54864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Engagement Analysis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1358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·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leaderboards reveal the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concentration, period over period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engagement (likes + comments) is bucketed by YEAR()/MONTH() and re-ranked every period with a partitioned DENSE_RANK().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82296" cy="82296"/>
          </a:xfrm>
          <a:prstGeom prst="roundRect">
            <a:avLst>
              <a:gd name="adj" fmla="val 22222"/>
            </a:avLst>
          </a:prstGeom>
          <a:solidFill>
            <a:srgbClr val="F7773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13432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May 2025, Eveline95 leads with 405 total engagements — nearly double the #10 spot (219).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19272"/>
            <a:ext cx="82296" cy="82296"/>
          </a:xfrm>
          <a:prstGeom prst="roundRect">
            <a:avLst>
              <a:gd name="adj" fmla="val 22222"/>
            </a:avLst>
          </a:prstGeom>
          <a:solidFill>
            <a:srgbClr val="F7773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209544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3 (Eveline95, Cesar93, Clint27) are tightly bunched, then engagement tapers off steadily.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215384"/>
            <a:ext cx="82296" cy="82296"/>
          </a:xfrm>
          <a:prstGeom prst="roundRect">
            <a:avLst>
              <a:gd name="adj" fmla="val 22222"/>
            </a:avLst>
          </a:prstGeom>
          <a:solidFill>
            <a:srgbClr val="F7773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05656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recurring monthly "Top 10" is a low-cost, repeatable recognition mechanic to keep power users invested.</a:t>
            </a:r>
            <a:endParaRPr lang="en-US" sz="12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126480" y="1600200"/>
          <a:ext cx="54864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Engagement Analysis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1358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·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Lifestyle &amp; food tags consistently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outperform on engagement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(likes + comments) per post was computed for every hashtag via a CTE, then ranked to surface the top 5.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82296" cy="82296"/>
          </a:xfrm>
          <a:prstGeom prst="roundRect">
            <a:avLst>
              <a:gd name="adj" fmla="val 22222"/>
            </a:avLst>
          </a:prstGeom>
          <a:solidFill>
            <a:srgbClr val="F7773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13432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#delicious leads at 65.27 average engagements per post, just ahead of #beauty (65.15) and #foodie (64.64).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19272"/>
            <a:ext cx="82296" cy="82296"/>
          </a:xfrm>
          <a:prstGeom prst="roundRect">
            <a:avLst>
              <a:gd name="adj" fmla="val 22222"/>
            </a:avLst>
          </a:prstGeom>
          <a:solidFill>
            <a:srgbClr val="F7773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209544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5 tags sit within a tight 64–65.3 band — engagement is broad-based across themes, not driven by one viral tag.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215384"/>
            <a:ext cx="82296" cy="82296"/>
          </a:xfrm>
          <a:prstGeom prst="roundRect">
            <a:avLst>
              <a:gd name="adj" fmla="val 22222"/>
            </a:avLst>
          </a:prstGeom>
          <a:solidFill>
            <a:srgbClr val="F7773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05656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post carries 2.64 tags, so most content already touches multiple themes worth targeting in ads.</a:t>
            </a:r>
            <a:endParaRPr lang="en-US" sz="12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126480" y="1600200"/>
          <a:ext cx="54864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Engagement Analysis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1358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·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reach is equal, engagement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becomes the tiebreaker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were filtered to users with both followers and posts, then sorted by total_followers DESC, avg_engagement_rate DESC.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82296" cy="82296"/>
          </a:xfrm>
          <a:prstGeom prst="roundRect">
            <a:avLst>
              <a:gd name="adj" fmla="val 22222"/>
            </a:avLst>
          </a:prstGeom>
          <a:solidFill>
            <a:srgbClr val="F7773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13432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shortlisted candidates share the same follower count (77) — so ranking hinges entirely on engagement quality.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19272"/>
            <a:ext cx="82296" cy="82296"/>
          </a:xfrm>
          <a:prstGeom prst="roundRect">
            <a:avLst>
              <a:gd name="adj" fmla="val 22222"/>
            </a:avLst>
          </a:prstGeom>
          <a:solidFill>
            <a:srgbClr val="F7773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209544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Donald.Fritsch delivers the best rate (65.3 / post) from just 6 posts — more efficient than Eveline95's 62.4 from 12 posts.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215384"/>
            <a:ext cx="82296" cy="82296"/>
          </a:xfrm>
          <a:prstGeom prst="roundRect">
            <a:avLst>
              <a:gd name="adj" fmla="val 22222"/>
            </a:avLst>
          </a:prstGeom>
          <a:solidFill>
            <a:srgbClr val="F7773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05656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alone doesn't predict impact: pairing follower count with engagement rate avoids over-indexing on vanity metrics.</a:t>
            </a:r>
            <a:endParaRPr lang="en-US" sz="12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126480" y="1600200"/>
          <a:ext cx="54864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Engagement Analysis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1358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·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activity tiers — and a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sizable dormant base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CASE-based rule tiers every user by posts and (likes + comments): Highly Active, Moderately Active, Low Activity, Inactive. Split shown is directional, based on the defined thresholds rather than a single exact count.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82296" cy="82296"/>
          </a:xfrm>
          <a:prstGeom prst="roundRect">
            <a:avLst>
              <a:gd name="adj" fmla="val 22222"/>
            </a:avLst>
          </a:prstGeom>
          <a:solidFill>
            <a:srgbClr val="F7773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13432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slim top tier is Highly Active — this is the same group surfacing in the engagement leaderboards.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19272"/>
            <a:ext cx="82296" cy="82296"/>
          </a:xfrm>
          <a:prstGeom prst="roundRect">
            <a:avLst>
              <a:gd name="adj" fmla="val 22222"/>
            </a:avLst>
          </a:prstGeom>
          <a:solidFill>
            <a:srgbClr val="F7773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209544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Inactive segment has never posted, liked or commented at all — a pure activation problem, not churn.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215384"/>
            <a:ext cx="82296" cy="82296"/>
          </a:xfrm>
          <a:prstGeom prst="roundRect">
            <a:avLst>
              <a:gd name="adj" fmla="val 22222"/>
            </a:avLst>
          </a:prstGeom>
          <a:solidFill>
            <a:srgbClr val="F7773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05656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intensity ladder, not a role label: it tells us how much to invest in outreach, not what kind of content to show.</a:t>
            </a:r>
            <a:endParaRPr lang="en-US" sz="12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126480" y="1463040"/>
          <a:ext cx="54864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Engagement Analysis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280160"/>
            <a:ext cx="3657600" cy="3657600"/>
          </a:xfrm>
          <a:prstGeom prst="ellipse">
            <a:avLst/>
          </a:prstGeom>
          <a:solidFill>
            <a:srgbClr val="C13584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777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is really telling us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109960" cy="1024128"/>
          </a:xfrm>
          <a:prstGeom prst="roundRect">
            <a:avLst>
              <a:gd name="adj" fmla="val 7143"/>
            </a:avLst>
          </a:prstGeom>
          <a:solidFill>
            <a:srgbClr val="4A1942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029968"/>
            <a:ext cx="128016" cy="621792"/>
          </a:xfrm>
          <a:prstGeom prst="roundRect">
            <a:avLst>
              <a:gd name="adj" fmla="val 21429"/>
            </a:avLst>
          </a:prstGeom>
          <a:solidFill>
            <a:srgbClr val="FCAF45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9202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A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is concentrated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34840" y="1920240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narrow band of power users (top ~10%) generates a disproportionate share of likes and comments, both all-time and month to month.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11109960" cy="1024128"/>
          </a:xfrm>
          <a:prstGeom prst="roundRect">
            <a:avLst>
              <a:gd name="adj" fmla="val 7143"/>
            </a:avLst>
          </a:prstGeom>
          <a:solidFill>
            <a:srgbClr val="4A1942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3191256"/>
            <a:ext cx="128016" cy="621792"/>
          </a:xfrm>
          <a:prstGeom prst="roundRect">
            <a:avLst>
              <a:gd name="adj" fmla="val 21429"/>
            </a:avLst>
          </a:prstGeom>
          <a:solidFill>
            <a:srgbClr val="FCAF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08152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A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Inactivity is an activation gap, not churn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34840" y="3081528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with zero lifetime activity never formed a habit to remind them of — this calls for onboarding fixes, not win-back emails.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51376"/>
            <a:ext cx="11109960" cy="1024128"/>
          </a:xfrm>
          <a:prstGeom prst="roundRect">
            <a:avLst>
              <a:gd name="adj" fmla="val 7143"/>
            </a:avLst>
          </a:prstGeom>
          <a:solidFill>
            <a:srgbClr val="4A1942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352544"/>
            <a:ext cx="128016" cy="621792"/>
          </a:xfrm>
          <a:prstGeom prst="roundRect">
            <a:avLst>
              <a:gd name="adj" fmla="val 21429"/>
            </a:avLst>
          </a:prstGeom>
          <a:solidFill>
            <a:srgbClr val="FCAF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242816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A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themes cluster near the top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34840" y="4242816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Food, beauty and lifestyle-oriented hashtags outperform consistently, giving content and ad teams a validated starting point.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312664"/>
            <a:ext cx="11109960" cy="1024128"/>
          </a:xfrm>
          <a:prstGeom prst="roundRect">
            <a:avLst>
              <a:gd name="adj" fmla="val 7143"/>
            </a:avLst>
          </a:prstGeom>
          <a:solidFill>
            <a:srgbClr val="4A1942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5513832"/>
            <a:ext cx="128016" cy="621792"/>
          </a:xfrm>
          <a:prstGeom prst="roundRect">
            <a:avLst>
              <a:gd name="adj" fmla="val 21429"/>
            </a:avLst>
          </a:prstGeom>
          <a:solidFill>
            <a:srgbClr val="FCAF45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5404104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A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 and quality are different signals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34840" y="5404104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with identical follower counts still show a real spread in engagement rate — influencer selection needs both metrics.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Engagement Analysis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1358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outreach intensity to activity tier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this segmentation on a rolling monthly basis so a user's tier moves as their behavior does.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ADCE6"/>
            </a:solidFill>
            <a:prstDash val="solid"/>
          </a:ln>
          <a:effectLst>
            <a:outerShdw blurRad="63500" dist="25400" dir="5400000" algn="bl" rotWithShape="0">
              <a:srgbClr val="3B133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65960"/>
            <a:ext cx="2697480" cy="109728"/>
          </a:xfrm>
          <a:prstGeom prst="rect">
            <a:avLst/>
          </a:prstGeom>
          <a:solidFill>
            <a:srgbClr val="3B1330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2402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Highly Active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49808" y="2697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3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&amp; recognition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3108960"/>
            <a:ext cx="2331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perks, “Top Creator” features, and early access — they're already doing everything right; the goal is keeping them.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64992" y="196596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ADCE6"/>
            </a:solidFill>
            <a:prstDash val="solid"/>
          </a:ln>
          <a:effectLst>
            <a:outerShdw blurRad="63500" dist="25400" dir="5400000" algn="bl" rotWithShape="0">
              <a:srgbClr val="3B133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64992" y="1965960"/>
            <a:ext cx="2697480" cy="109728"/>
          </a:xfrm>
          <a:prstGeom prst="rect">
            <a:avLst/>
          </a:prstGeom>
          <a:solidFill>
            <a:srgbClr val="C13584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22402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Moderately Active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566160" y="2697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C13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toward the next tier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66160" y="3108960"/>
            <a:ext cx="2331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 and “you're close to X” prompts that make the next tier feel reachable.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81344" y="196596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ADCE6"/>
            </a:solidFill>
            <a:prstDash val="solid"/>
          </a:ln>
          <a:effectLst>
            <a:outerShdw blurRad="63500" dist="25400" dir="5400000" algn="bl" rotWithShape="0">
              <a:srgbClr val="3B133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81344" y="1965960"/>
            <a:ext cx="2697480" cy="109728"/>
          </a:xfrm>
          <a:prstGeom prst="rect">
            <a:avLst/>
          </a:prstGeom>
          <a:solidFill>
            <a:srgbClr val="F77737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22402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Activity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382512" y="2697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F77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lightweight action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82512" y="3108960"/>
            <a:ext cx="2331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single-action prompt — post once, like three things — instead of a large campaign.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97696" y="196596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ADCE6"/>
            </a:solidFill>
            <a:prstDash val="solid"/>
          </a:ln>
          <a:effectLst>
            <a:outerShdw blurRad="63500" dist="25400" dir="5400000" algn="bl" rotWithShape="0">
              <a:srgbClr val="3B133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997696" y="1965960"/>
            <a:ext cx="2697480" cy="109728"/>
          </a:xfrm>
          <a:prstGeom prst="rect">
            <a:avLst/>
          </a:prstGeom>
          <a:solidFill>
            <a:srgbClr val="8C5A3C"/>
          </a:solidFill>
          <a:ln/>
        </p:spPr>
      </p:sp>
      <p:sp>
        <p:nvSpPr>
          <p:cNvPr id="23" name="Text 21"/>
          <p:cNvSpPr/>
          <p:nvPr/>
        </p:nvSpPr>
        <p:spPr>
          <a:xfrm>
            <a:off x="9198864" y="22402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Inactive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198864" y="2697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8C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activation flow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198864" y="3108960"/>
            <a:ext cx="2331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first post, onboarding checklists, and small rewards for completing first actions — this is activation, not win-back.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Engagement Analysis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7773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power users and top tags into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assets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C13584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911096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 dual-metric influencers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577840" y="1911096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high-follower + high-engagement-rate users (Donald.Fritsch, Aurelie71, Cesar93) for flagship partnerships; track high-rate, lower-follower users as micro-influencer candidates.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77737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962656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 content &amp; ad targeting in top tags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77840" y="2962656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the content team on #delicious, #beauty, #foodie, #sunset and #stunning for editorial pushes; hand the same list to ads as a creative/targeting signal.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06908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3B1330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4014216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 recurring recognition program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4014216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monthly "Top 10 Engaged Users" leaderboard, refreshed via the same partitioned ranking query, keeps power users invested period over period.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8C5A3C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5065776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before scaling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77840" y="5065776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top tags and influencer picks as A/B test hypotheses first — confirm they move engagement before committing full campaign budgets.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Engagement 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B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C13584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3840480" cy="3840480"/>
          </a:xfrm>
          <a:prstGeom prst="ellipse">
            <a:avLst/>
          </a:prstGeom>
          <a:solidFill>
            <a:srgbClr val="F77737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6517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58368" y="3566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15568" y="3503295"/>
            <a:ext cx="2011680" cy="0"/>
          </a:xfrm>
          <a:prstGeom prst="line">
            <a:avLst/>
          </a:prstGeom>
          <a:noFill/>
          <a:ln w="31750">
            <a:solidFill>
              <a:srgbClr val="F777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Engagement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1498</Words>
  <Application>Microsoft Office PowerPoint</Application>
  <PresentationFormat>Widescreen</PresentationFormat>
  <Paragraphs>205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Abhishek Gautam</cp:lastModifiedBy>
  <cp:revision>2</cp:revision>
  <dcterms:created xsi:type="dcterms:W3CDTF">2026-07-27T10:31:25Z</dcterms:created>
  <dcterms:modified xsi:type="dcterms:W3CDTF">2026-07-27T11:07:01Z</dcterms:modified>
</cp:coreProperties>
</file>